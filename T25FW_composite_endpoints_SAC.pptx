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Treatment signal (−z)</c:v>
                </c:pt>
              </c:strCache>
            </c:strRef>
          </c:tx>
          <c:spPr>
            <a:solidFill>
              <a:srgbClr val="1C7C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3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C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FB3B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FB3B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FB3B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7C8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FB3B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FB3B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FB3B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FB3B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FB3B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9FB3BB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CDW</c:v>
                  </c:pt>
                  <c:pt idx="1">
                    <c:v>T25FW</c:v>
                  </c:pt>
                  <c:pt idx="2">
                    <c:v>9-HPT</c:v>
                  </c:pt>
                  <c:pt idx="3">
                    <c:v>All 3 (∪)</c:v>
                  </c:pt>
                  <c:pt idx="4">
                    <c:v>CDW ∪ T25FW</c:v>
                  </c:pt>
                  <c:pt idx="5">
                    <c:v>CDW ∪ 9-HPT</c:v>
                  </c:pt>
                  <c:pt idx="6">
                    <c:v>T25FW ∪ 9-HPT</c:v>
                  </c:pt>
                  <c:pt idx="7">
                    <c:v>All 3 (∩)</c:v>
                  </c:pt>
                  <c:pt idx="8">
                    <c:v>CDW ∩ T25FW</c:v>
                  </c:pt>
                  <c:pt idx="9">
                    <c:v>CDW ∩ 9-HPT</c:v>
                  </c:pt>
                  <c:pt idx="10">
                    <c:v>T25FW ∩ 9-HPT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2.647</c:v>
                </c:pt>
                <c:pt idx="1">
                  <c:v>0.576</c:v>
                </c:pt>
                <c:pt idx="2">
                  <c:v>-0.18</c:v>
                </c:pt>
                <c:pt idx="3">
                  <c:v>1.708</c:v>
                </c:pt>
                <c:pt idx="4">
                  <c:v>2.396</c:v>
                </c:pt>
                <c:pt idx="5">
                  <c:v>1.734</c:v>
                </c:pt>
                <c:pt idx="6">
                  <c:v>0.253</c:v>
                </c:pt>
                <c:pt idx="7">
                  <c:v>0.298</c:v>
                </c:pt>
                <c:pt idx="8">
                  <c:v>0.315</c:v>
                </c:pt>
                <c:pt idx="9">
                  <c:v>1.635</c:v>
                </c:pt>
                <c:pt idx="10">
                  <c:v>0.598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Significance threshold (z = 1.96)</c:v>
                </c:pt>
              </c:strCache>
            </c:strRef>
          </c:tx>
          <c:spPr>
            <a:solidFill>
              <a:srgbClr val="D9532B"/>
            </a:solidFill>
            <a:ln w="25400" cap="flat">
              <a:solidFill>
                <a:srgbClr val="D9532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532B"/>
              </a:solidFill>
              <a:ln w="9525" cap="flat">
                <a:solidFill>
                  <a:srgbClr val="D953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CDW</c:v>
                  </c:pt>
                  <c:pt idx="1">
                    <c:v>T25FW</c:v>
                  </c:pt>
                  <c:pt idx="2">
                    <c:v>9-HPT</c:v>
                  </c:pt>
                  <c:pt idx="3">
                    <c:v>All 3 (∪)</c:v>
                  </c:pt>
                  <c:pt idx="4">
                    <c:v>CDW ∪ T25FW</c:v>
                  </c:pt>
                  <c:pt idx="5">
                    <c:v>CDW ∪ 9-HPT</c:v>
                  </c:pt>
                  <c:pt idx="6">
                    <c:v>T25FW ∪ 9-HPT</c:v>
                  </c:pt>
                  <c:pt idx="7">
                    <c:v>All 3 (∩)</c:v>
                  </c:pt>
                  <c:pt idx="8">
                    <c:v>CDW ∩ T25FW</c:v>
                  </c:pt>
                  <c:pt idx="9">
                    <c:v>CDW ∩ 9-HPT</c:v>
                  </c:pt>
                  <c:pt idx="10">
                    <c:v>T25FW ∩ 9-HPT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1.96</c:v>
                </c:pt>
                <c:pt idx="1">
                  <c:v>1.96</c:v>
                </c:pt>
                <c:pt idx="2">
                  <c:v>1.96</c:v>
                </c:pt>
                <c:pt idx="3">
                  <c:v>1.96</c:v>
                </c:pt>
                <c:pt idx="4">
                  <c:v>1.96</c:v>
                </c:pt>
                <c:pt idx="5">
                  <c:v>1.96</c:v>
                </c:pt>
                <c:pt idx="6">
                  <c:v>1.96</c:v>
                </c:pt>
                <c:pt idx="7">
                  <c:v>1.96</c:v>
                </c:pt>
                <c:pt idx="8">
                  <c:v>1.96</c:v>
                </c:pt>
                <c:pt idx="9">
                  <c:v>1.96</c:v>
                </c:pt>
                <c:pt idx="10">
                  <c:v>1.96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  <c:min val="-1"/>
        </c:scaling>
        <c:delete val="0"/>
        <c:axPos val="l"/>
        <c:majorGridlines>
          <c:spPr>
            <a:ln w="9525" cap="flat">
              <a:solidFill>
                <a:srgbClr val="E3EA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C75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B6C75"/>
                    </a:solidFill>
                    <a:latin typeface="Calibri"/>
                  </a:rPr>
                  <a:t>−z (higher = favors tolebrutinib)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C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A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Treatment signal (−z)</c:v>
                </c:pt>
              </c:strCache>
            </c:strRef>
          </c:tx>
          <c:spPr>
            <a:solidFill>
              <a:srgbClr val="1C7C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3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C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C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FB3B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C8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7C8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7C8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C7C8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C7C8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C7C8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C7C8C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9FB3BB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CDP</c:v>
                  </c:pt>
                  <c:pt idx="1">
                    <c:v>T25FW</c:v>
                  </c:pt>
                  <c:pt idx="2">
                    <c:v>9-HPT</c:v>
                  </c:pt>
                  <c:pt idx="3">
                    <c:v>All 3 (∪)</c:v>
                  </c:pt>
                  <c:pt idx="4">
                    <c:v>CDP ∪ T25FW</c:v>
                  </c:pt>
                  <c:pt idx="5">
                    <c:v>CDP ∪ 9-HPT</c:v>
                  </c:pt>
                  <c:pt idx="6">
                    <c:v>T25FW ∪ 9-HPT</c:v>
                  </c:pt>
                  <c:pt idx="7">
                    <c:v>All 3 (∩)</c:v>
                  </c:pt>
                  <c:pt idx="8">
                    <c:v>CDP ∩ T25FW</c:v>
                  </c:pt>
                  <c:pt idx="9">
                    <c:v>CDP ∩ 9-HPT</c:v>
                  </c:pt>
                  <c:pt idx="10">
                    <c:v>T25FW ∩ 9-HPT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3.282</c:v>
                </c:pt>
                <c:pt idx="1">
                  <c:v>2.89</c:v>
                </c:pt>
                <c:pt idx="2">
                  <c:v>0.759</c:v>
                </c:pt>
                <c:pt idx="3">
                  <c:v>3.656</c:v>
                </c:pt>
                <c:pt idx="4">
                  <c:v>3.922</c:v>
                </c:pt>
                <c:pt idx="5">
                  <c:v>2.578</c:v>
                </c:pt>
                <c:pt idx="6">
                  <c:v>2.354</c:v>
                </c:pt>
                <c:pt idx="7">
                  <c:v>2.927</c:v>
                </c:pt>
                <c:pt idx="8">
                  <c:v>2.626</c:v>
                </c:pt>
                <c:pt idx="9">
                  <c:v>2.245</c:v>
                </c:pt>
                <c:pt idx="10">
                  <c:v>1.589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Significance threshold (z = 1.96)</c:v>
                </c:pt>
              </c:strCache>
            </c:strRef>
          </c:tx>
          <c:spPr>
            <a:solidFill>
              <a:srgbClr val="D9532B"/>
            </a:solidFill>
            <a:ln w="25400" cap="flat">
              <a:solidFill>
                <a:srgbClr val="D9532B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532B"/>
              </a:solidFill>
              <a:ln w="9525" cap="flat">
                <a:solidFill>
                  <a:srgbClr val="D953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CDP</c:v>
                  </c:pt>
                  <c:pt idx="1">
                    <c:v>T25FW</c:v>
                  </c:pt>
                  <c:pt idx="2">
                    <c:v>9-HPT</c:v>
                  </c:pt>
                  <c:pt idx="3">
                    <c:v>All 3 (∪)</c:v>
                  </c:pt>
                  <c:pt idx="4">
                    <c:v>CDP ∪ T25FW</c:v>
                  </c:pt>
                  <c:pt idx="5">
                    <c:v>CDP ∪ 9-HPT</c:v>
                  </c:pt>
                  <c:pt idx="6">
                    <c:v>T25FW ∪ 9-HPT</c:v>
                  </c:pt>
                  <c:pt idx="7">
                    <c:v>All 3 (∩)</c:v>
                  </c:pt>
                  <c:pt idx="8">
                    <c:v>CDP ∩ T25FW</c:v>
                  </c:pt>
                  <c:pt idx="9">
                    <c:v>CDP ∩ 9-HPT</c:v>
                  </c:pt>
                  <c:pt idx="10">
                    <c:v>T25FW ∩ 9-HPT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1.96</c:v>
                </c:pt>
                <c:pt idx="1">
                  <c:v>1.96</c:v>
                </c:pt>
                <c:pt idx="2">
                  <c:v>1.96</c:v>
                </c:pt>
                <c:pt idx="3">
                  <c:v>1.96</c:v>
                </c:pt>
                <c:pt idx="4">
                  <c:v>1.96</c:v>
                </c:pt>
                <c:pt idx="5">
                  <c:v>1.96</c:v>
                </c:pt>
                <c:pt idx="6">
                  <c:v>1.96</c:v>
                </c:pt>
                <c:pt idx="7">
                  <c:v>1.96</c:v>
                </c:pt>
                <c:pt idx="8">
                  <c:v>1.96</c:v>
                </c:pt>
                <c:pt idx="9">
                  <c:v>1.96</c:v>
                </c:pt>
                <c:pt idx="10">
                  <c:v>1.96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  <c:min val="-1"/>
        </c:scaling>
        <c:delete val="0"/>
        <c:axPos val="l"/>
        <c:majorGridlines>
          <c:spPr>
            <a:ln w="9525" cap="flat">
              <a:solidFill>
                <a:srgbClr val="E3EA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C75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B6C75"/>
                    </a:solidFill>
                    <a:latin typeface="Calibri"/>
                  </a:rPr>
                  <a:t>−z (higher = favors tolebrutinib)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C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A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Follow-up item from the last committee meeting: how accurate is T25FW as a component of an EDSS + T25FW + 9-HPT composite? Data are summary Cox results from tolebrutinib trials, not participant-level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of last meeting. The committee asked to test whether removing T25FW improves the treatment signal in tolebrutinib SPMS/PPMS data, which could later be used with regulators.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RMS has an active comparator (teriflunomide) and is relapse-driven; NRSPMS is placebo-controlled and closer to the progressive population relevant to frexalimab.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EDSS alone HR 0.69 (p=0.008). Full composite more than doubles events (211 to 447) but HR moves to 0.85 (p=0.088). T25FW alone HR 0.93 and 9-HPT alone HR 1.04: neither carries signal here. Both/and estimates are sparse: all-three has 13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T25FW alone is significant (HR 0.74, p=0.004). EDSS + T25FW is the strongest endpoint (p=8.8e-5). EDSS + 9-HPT (p=0.010) is weaker than EDSS alone (p=0.001). 10 of 11 endpoints are significant at 0.05 without multiplicity adjustment; they are highly correlated, so this is not 10 independent confirmations.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z-score = beta/SE, so it reflects both effect size and number of events. Adding events that do not carry treatment effect lowers z. Only EDSS and EDSS+T25FW clear 1.96 in 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contradicts the premise that T25FW dilutes the signal in progressive disease, at least for tolebrutinib versus placebo. EDSS + 9-HPT, the combination favored in the publication, does not outperform EDSS alone or EDSS + T25FW in this data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Overlap figures are approximations from tabulated event counts: 258-64 in RMS and 378-177 in NRSPMS. 9-HPT increment: 447-405=42 in RMS and 544-508=36 in NRSPMS. Notes from last meeting cited 9-14% for 9-HPT contribution in the tolebrutinib NRSPMS trial; our incremental calculation gives about 7%, so the derivation should be reconciled.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partly support the publication for RMS and do not support it for NRSPMS. The population most relevant to frexalimab progressive programs is NRSPMS-like, where T25FW retained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step: obtain participant-level data so that the timing, confirmation and stratified analyses requested by the committee can be run. The ECTRIMS poster on T25FW predictive value for future EDSS progression is a related workstream.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T25FW signal or noise in composite disability endpoints?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118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the tolebrutinib RMS and NRSPMS trials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7607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Advisory Committee follow-up  |  Frexalimab MS program  | 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Sormani 2026 questions whether T25FW earns its place in the composite</a:t>
            </a:r>
            <a:endParaRPr lang="en-US" sz="2800" dirty="0"/>
          </a:p>
        </p:txBody>
      </p:sp>
      <p:sp>
        <p:nvSpPr>
          <p:cNvPr id="3" name="card-pub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 position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3172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OR-type composites add CDW events, mostly from T25FW, without improving power or treatment-effect detection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T25FW: high event rate, low specificity, likely short-term variability (temperature, time of day, site)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EDSS + 9-HPT gives the strongest, most clinically meaningful signal in progressive MS</a:t>
            </a:r>
            <a:endParaRPr lang="en-US" sz="1600" dirty="0"/>
          </a:p>
        </p:txBody>
      </p:sp>
      <p:sp>
        <p:nvSpPr>
          <p:cNvPr id="6" name="card-q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for this review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33172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composite raise event rate without raising treatment sensitivity?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T25FW contributing noise rather than signal?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event quality a concern?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program move to EDSS + 9-HPT?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consensus last meeting: no change to the primary endpoint; test removal of T25FW in tolebrutinib datasets first.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tolebrutinib programs, 11 endpoint definitions each</a:t>
            </a:r>
            <a:endParaRPr lang="en-US" sz="2800" dirty="0"/>
          </a:p>
        </p:txBody>
      </p:sp>
      <p:sp>
        <p:nvSpPr>
          <p:cNvPr id="3" name="stat-rms"/>
          <p:cNvSpPr/>
          <p:nvPr/>
        </p:nvSpPr>
        <p:spPr>
          <a:xfrm>
            <a:off x="548640" y="16002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0F3D4C"/>
          </a:solidFill>
          <a:ln w="12700">
            <a:solidFill>
              <a:srgbClr val="0F3D4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1,873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RMS, pooled ITT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EFC16033 + EFC16034: tolebrutinib 933 vs teriflunomide 940</a:t>
            </a:r>
            <a:endParaRPr lang="en-US" sz="1400" dirty="0"/>
          </a:p>
        </p:txBody>
      </p:sp>
      <p:sp>
        <p:nvSpPr>
          <p:cNvPr id="7" name="stat-nrspms"/>
          <p:cNvSpPr/>
          <p:nvPr/>
        </p:nvSpPr>
        <p:spPr>
          <a:xfrm>
            <a:off x="4297680" y="16002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0F3D4C"/>
          </a:solidFill>
          <a:ln w="12700">
            <a:solidFill>
              <a:srgbClr val="0F3D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7373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1,131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788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NRSPMS, ITT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004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EFC16645: tolebrutinib 754 vs placebo 377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endpoints were built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1031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EDSS (CDW in RMS, CDP in NRSPMS), T25FW, 9-HPT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Either/or: first event of any component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Both/and: all components have an event, no time window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model, HR &lt; 1 favors tolebrutinib; no multiplicity adjustment</a:t>
            </a:r>
            <a:endParaRPr lang="en-US" sz="1400" dirty="0"/>
          </a:p>
        </p:txBody>
      </p:sp>
      <p:sp>
        <p:nvSpPr>
          <p:cNvPr id="13" name="caveat-card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analysis: </a:t>
            </a:r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results only, not participant-level data. We can compare effect size and event counts across endpoint definitions, but not T25FW timing, confirmation reversal, regional effects or baseline-EDSS strata.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RMS: every addition to EDSS dilutes the treatment signal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Tolebrutinib RMS (pooled EFC16033 + EFC16034), ITT: 933 vs teriflunomide 940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51560"/>
                <a:gridCol w="731520"/>
                <a:gridCol w="822960"/>
                <a:gridCol w="960120"/>
                <a:gridCol w="868680"/>
                <a:gridCol w="1097280"/>
                <a:gridCol w="777240"/>
                <a:gridCol w="73152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Censored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 (log-HR)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(2-sided Wald)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CDW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either/or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−0.3697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−2.647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T25FW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either/or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−0.0718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9HPT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either/or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CDW ∪ T25FW ∪ 9HPT (cCDW)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either/or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−0.1619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−1.708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CDW ∪ T25FW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either/or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−0.2394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−2.396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CDW ∪ 9HPT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either/or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−0.2127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−1.734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T25FW ∪ 9HPT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either/or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CDW ∩ T25FW ∩ 9HPT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both/and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−0.1659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CDW ∩ T25FW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both/and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−0.0789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CDW ∩ 9HPT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both/and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−1.635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T25FW ∩ 9HPT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both/and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−0.2234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&lt; 1 favors tolebrutinib. Shaded rows: p &lt; 0.05 (no multiplicity adjustment). ∪ = either/or, ∩ = both/and (no time window).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NRSPMS: T25FW carries signal; adding 9-HPT weakens 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Tolebrutinib NRSPMS (EFC16645), ITT: 754 vs placebo 377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51560"/>
                <a:gridCol w="731520"/>
                <a:gridCol w="822960"/>
                <a:gridCol w="960120"/>
                <a:gridCol w="868680"/>
                <a:gridCol w="1097280"/>
                <a:gridCol w="777240"/>
                <a:gridCol w="73152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Censored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 (log-HR)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(2-sided Wald)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4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CDP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either/or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−3.282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T25FW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either/or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−0.3055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−2.890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9HPT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either/or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−0.1344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CDP ∪ T25FW ∪ 9HPT (cCDP)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either/or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−0.3227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−3.656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CDP ∪ T25FW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either/or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−0.3572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−3.922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0.0000879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CDP ∪ 9HPT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either/or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−0.2708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−2.578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T25FW ∪ 9HPT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either/or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−0.2352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−2.354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CDP ∩ T25FW ∩ 9HPT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both/and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−0.8558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−2.927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CDP ∩ T25FW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both/and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−2.626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CDP ∩ 9HPT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both/and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−0.5676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−2.245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F3D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T25FW ∩ 9HPT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5B6C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both/and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−0.3487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&lt; 1 favors tolebrutinib. Shaded rows: p &lt; 0.05 (no multiplicity adjustment). ∪ = either/or, ∩ = both/and (no time window).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RMS: no composite beats EDSS alone on z-score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110642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ey-sig"/>
          <p:cNvSpPr/>
          <p:nvPr/>
        </p:nvSpPr>
        <p:spPr>
          <a:xfrm>
            <a:off x="548640" y="5760720"/>
            <a:ext cx="201168" cy="201168"/>
          </a:xfrm>
          <a:prstGeom prst="rect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57150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</a:t>
            </a:r>
            <a:endParaRPr lang="en-US" sz="1200" dirty="0"/>
          </a:p>
        </p:txBody>
      </p:sp>
      <p:sp>
        <p:nvSpPr>
          <p:cNvPr id="6" name="key-ns"/>
          <p:cNvSpPr/>
          <p:nvPr/>
        </p:nvSpPr>
        <p:spPr>
          <a:xfrm>
            <a:off x="2011680" y="5760720"/>
            <a:ext cx="201168" cy="201168"/>
          </a:xfrm>
          <a:prstGeom prst="rect">
            <a:avLst/>
          </a:prstGeom>
          <a:solidFill>
            <a:srgbClr val="9FB3BB"/>
          </a:solidFill>
          <a:ln w="12700">
            <a:solidFill>
              <a:srgbClr val="9FB3B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286000" y="57150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≥ 0.05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657600" y="56692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EDSS alone (z 2.65) outperforms the full composite (1.71). T25FW alone (0.58) and 9-HPT alone (−0.18) show no signal.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β/SE from Cox models (ITT); sign flipped so positive favors tolebrutinib. ∩ endpoints have few events (RMS 13–64; NRSPMS 47–177).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NRSPMS: EDSS + T25FW has the strongest signal; 9-HPT adds none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110642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ey-sig"/>
          <p:cNvSpPr/>
          <p:nvPr/>
        </p:nvSpPr>
        <p:spPr>
          <a:xfrm>
            <a:off x="548640" y="5760720"/>
            <a:ext cx="201168" cy="201168"/>
          </a:xfrm>
          <a:prstGeom prst="rect">
            <a:avLst/>
          </a:prstGeom>
          <a:solidFill>
            <a:srgbClr val="1C7C8C"/>
          </a:solidFill>
          <a:ln w="12700">
            <a:solidFill>
              <a:srgbClr val="1C7C8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57150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</a:t>
            </a:r>
            <a:endParaRPr lang="en-US" sz="1200" dirty="0"/>
          </a:p>
        </p:txBody>
      </p:sp>
      <p:sp>
        <p:nvSpPr>
          <p:cNvPr id="6" name="key-ns"/>
          <p:cNvSpPr/>
          <p:nvPr/>
        </p:nvSpPr>
        <p:spPr>
          <a:xfrm>
            <a:off x="2011680" y="5760720"/>
            <a:ext cx="201168" cy="201168"/>
          </a:xfrm>
          <a:prstGeom prst="rect">
            <a:avLst/>
          </a:prstGeom>
          <a:solidFill>
            <a:srgbClr val="9FB3BB"/>
          </a:solidFill>
          <a:ln w="12700">
            <a:solidFill>
              <a:srgbClr val="9FB3B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286000" y="57150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≥ 0.05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657600" y="56692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EDSS + T25FW (z 3.92) beats EDSS alone (3.28). EDSS + 9-HPT (2.58) is below EDSS alone; 9-HPT alone is 0.76.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β/SE from Cox models (ITT); sign flipped so positive favors tolebrutinib. ∩ endpoints have few events (RMS 13–64; NRSPMS 47–177).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quality differs: most RMS T25FW events stand alone</a:t>
            </a:r>
            <a:endParaRPr lang="en-US" sz="2800" dirty="0"/>
          </a:p>
        </p:txBody>
      </p:sp>
      <p:sp>
        <p:nvSpPr>
          <p:cNvPr id="3" name="q1"/>
          <p:cNvSpPr/>
          <p:nvPr/>
        </p:nvSpPr>
        <p:spPr>
          <a:xfrm>
            <a:off x="548640" y="160020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0F3D4C"/>
          </a:solidFill>
          <a:ln w="12700">
            <a:solidFill>
              <a:srgbClr val="0F3D4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97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RMS T25FW events have no matching CDW event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74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 of 258</a:t>
            </a:r>
            <a:endParaRPr lang="en-US" sz="1300" dirty="0"/>
          </a:p>
        </p:txBody>
      </p:sp>
      <p:sp>
        <p:nvSpPr>
          <p:cNvPr id="7" name="q2"/>
          <p:cNvSpPr/>
          <p:nvPr/>
        </p:nvSpPr>
        <p:spPr>
          <a:xfrm>
            <a:off x="3429000" y="160020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0F3D4C"/>
          </a:solidFill>
          <a:ln w="12700">
            <a:solidFill>
              <a:srgbClr val="0F3D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697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NRSPMS T25FW events have no matching CDP event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474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of 378</a:t>
            </a:r>
            <a:endParaRPr lang="en-US" sz="1300" dirty="0"/>
          </a:p>
        </p:txBody>
      </p:sp>
      <p:sp>
        <p:nvSpPr>
          <p:cNvPr id="11" name="q3"/>
          <p:cNvSpPr/>
          <p:nvPr/>
        </p:nvSpPr>
        <p:spPr>
          <a:xfrm>
            <a:off x="6309360" y="160020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97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for CDP ∩ T25FW in NRSPMS, vs 0.74 for T25FW alone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474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Concordant events carry a stronger effect</a:t>
            </a:r>
            <a:endParaRPr lang="en-US" sz="1300" dirty="0"/>
          </a:p>
        </p:txBody>
      </p:sp>
      <p:sp>
        <p:nvSpPr>
          <p:cNvPr id="15" name="q4"/>
          <p:cNvSpPr/>
          <p:nvPr/>
        </p:nvSpPr>
        <p:spPr>
          <a:xfrm>
            <a:off x="9189720" y="160020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1832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36–42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9418320" y="2697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events from adding 9-HPT to EDSS + T25FW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0" y="34747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7–9% of the full composite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548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T25FW events confirmed by EDSS look like true progression; stand-alone T25FW events dilute the effect, especially under an active comparator. 9-HPT contributes too few events to change the composite.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event counts: T25FW-only events minus both/and counts (approximate; both/and ignores the baseline-missing rule). 9-HPT increment = full composite minus EDSS ∪ T25FW.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to the committee questions</a:t>
            </a:r>
            <a:endParaRPr lang="en-US" sz="2800" dirty="0"/>
          </a:p>
        </p:txBody>
      </p:sp>
      <p:sp>
        <p:nvSpPr>
          <p:cNvPr id="3" name="ans-0"/>
          <p:cNvSpPr/>
          <p:nvPr/>
        </p:nvSpPr>
        <p:spPr>
          <a:xfrm>
            <a:off x="548640" y="1554480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27632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raises events without raising sensitivity?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627632"/>
            <a:ext cx="6583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RMS: yes. Events 211 to 447, p 0.008 to 0.088. NRSPMS: no, power is maintained or improved.</a:t>
            </a:r>
            <a:endParaRPr lang="en-US" sz="1600" dirty="0"/>
          </a:p>
        </p:txBody>
      </p:sp>
      <p:sp>
        <p:nvSpPr>
          <p:cNvPr id="6" name="ans-1"/>
          <p:cNvSpPr/>
          <p:nvPr/>
        </p:nvSpPr>
        <p:spPr>
          <a:xfrm>
            <a:off x="548640" y="2715768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T25FW contributing noise?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788920"/>
            <a:ext cx="6583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RMS: yes (HR 0.93). NRSPMS: no (HR 0.74, p = 0.004); EDSS + T25FW is the best endpoint.</a:t>
            </a:r>
            <a:endParaRPr lang="en-US" sz="1600" dirty="0"/>
          </a:p>
        </p:txBody>
      </p:sp>
      <p:sp>
        <p:nvSpPr>
          <p:cNvPr id="9" name="ans-2"/>
          <p:cNvSpPr/>
          <p:nvPr/>
        </p:nvSpPr>
        <p:spPr>
          <a:xfrm>
            <a:off x="548640" y="3877056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50208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event quality a concern?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950208"/>
            <a:ext cx="6583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in RMS: 75% of T25FW events stand alone. EDSS-concordant T25FW events show a stronger effect.</a:t>
            </a:r>
            <a:endParaRPr lang="en-US" sz="1600" dirty="0"/>
          </a:p>
        </p:txBody>
      </p:sp>
      <p:sp>
        <p:nvSpPr>
          <p:cNvPr id="12" name="ans-3"/>
          <p:cNvSpPr/>
          <p:nvPr/>
        </p:nvSpPr>
        <p:spPr>
          <a:xfrm>
            <a:off x="548640" y="5038344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111496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to EDSS + 9-HPT?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5111496"/>
            <a:ext cx="6583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 here: it is weaker than EDSS alone in both trials. 9-HPT alone is non-significant.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tolebrutinib summary results; frexalimab-specific effects may differ.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keep the primary endpoint, add pre-specified sensitivity analyses</a:t>
            </a:r>
            <a:endParaRPr lang="en-US" sz="2800" dirty="0"/>
          </a:p>
        </p:txBody>
      </p:sp>
      <p:sp>
        <p:nvSpPr>
          <p:cNvPr id="3" name="col-actions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actions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31720"/>
            <a:ext cx="4800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 to the primary endpoint; add EDSS-only and EDSS + 9-HPT as secondary or exploratory analyses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participant-level tolebrutinib SPMS/PPMS data (ADTTE) for T25FW timing, confirmation reversal and EDSS-predictive value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 by baseline EDSS (below 6 vs 6 or above) and by region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CDW + CDI (confirmed disability improvement)</a:t>
            </a:r>
            <a:endParaRPr lang="en-US" sz="1600" dirty="0"/>
          </a:p>
        </p:txBody>
      </p:sp>
      <p:sp>
        <p:nvSpPr>
          <p:cNvPr id="6" name="col-limits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of this review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331720"/>
            <a:ext cx="48006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Cox results only; no early-versus-late noise, regional or stratified analysis possible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multiplicity adjustment; endpoints are strongly correlated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Both/and estimates are sparse and unstable (RMS all-three: 13 events)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Tolebrutinib results may not transfer to frexalimab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C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C Tolebrutinib Review">
  <a:themeElements>
    <a:clrScheme name="SAC Tolebrutinib Review">
      <a:dk1>
        <a:srgbClr val="1B2A33"/>
      </a:dk1>
      <a:lt1>
        <a:srgbClr val="FFFFFF"/>
      </a:lt1>
      <a:dk2>
        <a:srgbClr val="0F3D4C"/>
      </a:dk2>
      <a:lt2>
        <a:srgbClr val="EEF3F4"/>
      </a:lt2>
      <a:accent1>
        <a:srgbClr val="1C7C8C"/>
      </a:accent1>
      <a:accent2>
        <a:srgbClr val="D9532B"/>
      </a:accent2>
      <a:accent3>
        <a:srgbClr val="9FB3BB"/>
      </a:accent3>
      <a:accent4>
        <a:srgbClr val="E9A23B"/>
      </a:accent4>
      <a:accent5>
        <a:srgbClr val="5B6C75"/>
      </a:accent5>
      <a:accent6>
        <a:srgbClr val="7FB7BE"/>
      </a:accent6>
      <a:hlink>
        <a:srgbClr val="1C7C8C"/>
      </a:hlink>
      <a:folHlink>
        <a:srgbClr val="5B6C75"/>
      </a:folHlink>
    </a:clrScheme>
    <a:fontScheme name="SAC Tolebrutinib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T25FW in composite disability endpoints: tolebrutinib evidence</dc:title>
  <dc:subject>PptxGenJS Presentation</dc:subject>
  <dc:creator>Scientific Advisory Committee follow-up</dc:creator>
  <cp:lastModifiedBy>Scientific Advisory Committee follow-up</cp:lastModifiedBy>
  <cp:revision>1</cp:revision>
  <dcterms:created xsi:type="dcterms:W3CDTF">2026-10-06T18:51:33Z</dcterms:created>
  <dcterms:modified xsi:type="dcterms:W3CDTF">2026-10-06T18:51:33Z</dcterms:modified>
</cp:coreProperties>
</file>